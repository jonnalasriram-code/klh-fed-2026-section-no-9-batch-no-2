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Design &amp; Simulation of an Automatic Street Light Control System</a:t>
            </a:r>
          </a:p>
          <a:p>
            <a:pPr>
              <a:spcBef>
                <a:spcPts val="1400"/>
              </a:spcBef>
              <a:defRPr sz="2200">
                <a:solidFill>
                  <a:srgbClr val="F5AF19"/>
                </a:solidFill>
                <a:latin typeface="Arial"/>
              </a:defRPr>
            </a:pPr>
            <a:r>
              <a:t>Using Pure Combinational Logic in Logisim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AF19"/>
                </a:solidFill>
                <a:latin typeface="Arial"/>
              </a:defRPr>
            </a:pPr>
            <a:r>
              <a:t>AUTOMATIC STREET LIGHT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Arial"/>
              </a:defRPr>
            </a:pPr>
            <a:r>
              <a:t>Introduction &amp; Real-World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15A77"/>
                </a:solidFill>
              </a:defRPr>
            </a:pPr>
            <a:r>
              <a:t>The Inefficiency Challenge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• Manual street light systems suffer from human delays and errors.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• Streetlights remain fully powered during bright daylight or low-traffic midnights.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• Massive grid power wastage and inflated municipal electricity expenses.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• Shortened bulb lifespans due to continuous unneeded burning.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AF19"/>
                </a:solidFill>
              </a:defRPr>
            </a:pPr>
            <a:r>
              <a:t>The Combinational Solution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• An automated system responding dynamically to environmental variables.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• Relies completely on combinational logic for instant, memoryless operations.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• Processes sensor inputs (Light, Motion, Emergency Override) in real-time.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• Delivers substantial energy savings by adjusting brightness levels seamlessly.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AF19"/>
                </a:solidFill>
                <a:latin typeface="Arial"/>
              </a:defRPr>
            </a:pPr>
            <a:r>
              <a:t>AUTOMATIC STREET LIGHT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Arial"/>
              </a:defRPr>
            </a:pPr>
            <a:r>
              <a:t>System Specifications &amp; Variable Declarations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292608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Logic Definition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 (Light)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 = It is Dark / Night | 0 = It is Bright / Day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M (Motion)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 = Vehicle/Pedestrian detected | 0 = Idle street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E (Emerg)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 = Override active (Fog/Repair) | 0 = Normal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B1, 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2-bit output: 00=Off | 01=Dim (30%) | 10=Full (100%)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15A77"/>
                </a:solidFill>
              </a:defRPr>
            </a:pPr>
            <a:r>
              <a:t>Design Requirements &amp; Rules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✔ Rule 1: If Emergency (E=1) is active, system outputs Full Brightness (10) regardless of light or motion.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✔ Rule 2: During Day (L=0), lights remain Off (00) unless an emergency override is triggered.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✔ Rule 3: During Night (L=1) with no motion (M=0), lights stay Dim (01) to save standby energy.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✔ Rule 4: During Night (L=1) with motion (M=1), lights scale up instantly to Full Brightness (10).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5943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990600"/>
                <a:gridCol w="990600"/>
                <a:gridCol w="990600"/>
                <a:gridCol w="990600"/>
                <a:gridCol w="990600"/>
              </a:tblGrid>
              <a:tr h="5283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B0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System Operating State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Daytime - Empty Street (OFF)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Daytime - Motion Detected (OFF)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Nighttime - Empty Street (DIM)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Nighttime - Motion Detected (FULL)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Emergency Override Active (FULL)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Emergency Override Active (FULL)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Emergency Override Active (FULL)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Emergency Override Active (FULL)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AF19"/>
                </a:solidFill>
                <a:latin typeface="Arial"/>
              </a:defRPr>
            </a:pPr>
            <a:r>
              <a:t>AUTOMATIC STREET LIGHT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Arial"/>
              </a:defRPr>
            </a:pPr>
            <a:r>
              <a:t>System Truth Table 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64592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15A77"/>
                </a:solidFill>
              </a:defRPr>
            </a:pPr>
            <a:r>
              <a:t>Truth Table Observations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B1 is active (1) in five specific conditions: when night motion happens or whenever emergency mode triggers.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B0 is active (1) in only one distinct state: when it is night and there is absolutely no traffic motion.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This deterministic mapping forms the foundation for deriving logic equations using K-Maps.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AF19"/>
                </a:solidFill>
                <a:latin typeface="Arial"/>
              </a:defRPr>
            </a:pPr>
            <a:r>
              <a:t>AUTOMATIC STREET LIGHT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Arial"/>
              </a:defRPr>
            </a:pPr>
            <a:r>
              <a:t>Boolean Simplification Using K-Maps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15A77"/>
                </a:solidFill>
              </a:defRPr>
            </a:pPr>
            <a:r>
              <a:t>Deriving Output B1 (MSB)</a:t>
            </a:r>
          </a:p>
          <a:p>
            <a:pPr>
              <a:defRPr sz="1600" b="1">
                <a:solidFill>
                  <a:srgbClr val="F5AF19"/>
                </a:solidFill>
              </a:defRPr>
            </a:pPr>
            <a:r>
              <a:t>Minterms: Σm(3, 4, 5, 6, 7)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K-Map Grouping Details:</a:t>
            </a:r>
            <a:br/>
            <a:r>
              <a:t>- A large 4-cell grouping maps out the rows where Emergency E = 1.</a:t>
            </a:r>
            <a:br/>
            <a:r>
              <a:t>- A separate 2-cell vertical group maps out the intersection where L = 1 and M = 1.</a:t>
            </a:r>
          </a:p>
          <a:p>
            <a:pPr>
              <a:spcBef>
                <a:spcPts val="1200"/>
              </a:spcBef>
              <a:defRPr sz="1800" b="1">
                <a:solidFill>
                  <a:srgbClr val="0B192C"/>
                </a:solidFill>
              </a:defRPr>
            </a:pPr>
            <a:r>
              <a:t>Simplified Equation:</a:t>
            </a:r>
            <a:br/>
            <a:r>
              <a:t>B1 = E + (L · 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15A77"/>
                </a:solidFill>
              </a:defRPr>
            </a:pPr>
            <a:r>
              <a:t>Deriving Output B0 (LSB)</a:t>
            </a:r>
          </a:p>
          <a:p>
            <a:pPr>
              <a:defRPr sz="1600" b="1">
                <a:solidFill>
                  <a:srgbClr val="F5AF19"/>
                </a:solidFill>
              </a:defRPr>
            </a:pPr>
            <a:r>
              <a:t>Minterms: Σm(2)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K-Map Grouping Details:</a:t>
            </a:r>
            <a:br/>
            <a:r>
              <a:t>- Only minterm m2 (010) is active for this output bit.</a:t>
            </a:r>
            <a:br/>
            <a:r>
              <a:t>- Cannot be grouped with any adjacent cells due to surrounding zeros.</a:t>
            </a:r>
            <a:br/>
            <a:r>
              <a:t>- Must be implemented as a single 3-input AND gate sequence.</a:t>
            </a:r>
          </a:p>
          <a:p>
            <a:pPr>
              <a:spcBef>
                <a:spcPts val="1200"/>
              </a:spcBef>
              <a:defRPr sz="1800" b="1">
                <a:solidFill>
                  <a:srgbClr val="0B192C"/>
                </a:solidFill>
              </a:defRPr>
            </a:pPr>
            <a:r>
              <a:t>Simplified Equation:</a:t>
            </a:r>
            <a:br/>
            <a:r>
              <a:t>B0 = E' · L · M'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AF19"/>
                </a:solidFill>
                <a:latin typeface="Arial"/>
              </a:defRPr>
            </a:pPr>
            <a:r>
              <a:t>AUTOMATIC STREET LIGHT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Arial"/>
              </a:defRPr>
            </a:pPr>
            <a:r>
              <a:t>Complete Logisim Circuit Schematic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15A77"/>
                </a:solidFill>
              </a:defRPr>
            </a:pPr>
            <a:r>
              <a:t>Logisim Functional Gate Architecture</a:t>
            </a:r>
          </a:p>
          <a:p>
            <a:pPr>
              <a:spcBef>
                <a:spcPts val="1000"/>
              </a:spcBef>
              <a:defRPr sz="1400">
                <a:solidFill>
                  <a:srgbClr val="0B192C"/>
                </a:solidFill>
                <a:latin typeface="Courier New"/>
              </a:defRPr>
            </a:pPr>
            <a:r>
              <a:t>  INPUT PINS              LOGIC GATES CONSTRUCT                     OUTPUT PINS</a:t>
            </a:r>
            <a:br/>
            <a:r>
              <a:t>  ==========              ====================                     ===========</a:t>
            </a:r>
            <a:br/>
            <a:br/>
            <a:r>
              <a:t>  E (Emergency) ────────┬───────────────────────────────────────────► [ B1 (MSB) ]</a:t>
            </a:r>
            <a:br/>
            <a:r>
              <a:t>                        │                               ▲</a:t>
            </a:r>
            <a:br/>
            <a:r>
              <a:t>                        │   ┌───────────┐               │</a:t>
            </a:r>
            <a:br/>
            <a:r>
              <a:t>  L (Light)     ────┬───┼──►│  AND Gate │───────────────┘ (OR Gate)</a:t>
            </a:r>
            <a:br/>
            <a:r>
              <a:t>                    │   │   └───────────┘</a:t>
            </a:r>
            <a:br/>
            <a:r>
              <a:t>  M (Motion)    ──┬─┼───┘</a:t>
            </a:r>
            <a:br/>
            <a:r>
              <a:t>                  │ │       ┌───────────┐</a:t>
            </a:r>
            <a:br/>
            <a:r>
              <a:t>                  │ └──[NOT]►│           │</a:t>
            </a:r>
            <a:br/>
            <a:r>
              <a:t>                  └────[NOT]►│ 3-In AND  ├──────────────────────────► [ B0 (LSB) ]</a:t>
            </a:r>
            <a:br/>
            <a:r>
              <a:t>                             └───────────┘</a:t>
            </a:r>
            <a:br/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Circuit Component Inventory: 2 NOT Gates, 1 Two-Input AND Gate, 1 Three-Input AND Gate, 1 Two-Input OR Gate, 3 Input Pins, 2 Output Pins.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AF19"/>
                </a:solidFill>
                <a:latin typeface="Arial"/>
              </a:defRPr>
            </a:pPr>
            <a:r>
              <a:t>AUTOMATIC STREET LIGHT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Arial"/>
              </a:defRPr>
            </a:pPr>
            <a:r>
              <a:t>Logisim Simulation: Day Mode States (OFF)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15A77"/>
                </a:solidFill>
              </a:defRPr>
            </a:pPr>
            <a:r>
              <a:t>Condition: Sunlight Available (L = 0, E = 0)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➔ State [000] - Day &amp; No Motion: Light Input is 0. Motion Input is 0. Both output bits evaluate to 0 (B1B0 = 00). Street lights remain fully Powered Down.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➔ State [001] - Day &amp; Motion Detected: Even when a vehicle passes by (M = 1), the AND gate evaluating (L · M) receives a 0 from the light sensor. The output stays firmly at 00.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➔ Logisim Behavior: Output pins show dark green traces, indicating logic low (0 state) across both terminal paths.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AF19"/>
                </a:solidFill>
                <a:latin typeface="Arial"/>
              </a:defRPr>
            </a:pPr>
            <a:r>
              <a:t>AUTOMATIC STREET LIGHT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Arial"/>
              </a:defRPr>
            </a:pPr>
            <a:r>
              <a:t>Logisim Simulation: Night Mode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15A77"/>
                </a:solidFill>
              </a:defRPr>
            </a:pPr>
            <a:r>
              <a:t>Dynamic Adjustments Under Darkness (L = 1, E = 0)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</a:defRPr>
            </a:pPr>
            <a:r>
              <a:t>➔ State [010] - Night &amp; Empty Street (Standby Dim): L=1 and M=0. The 3-input AND gate satisfies E'=1, L=1, M'=1. B0 switches to 1, while B1 remains 0. System outputs 01 (Dim Mode, 30% power).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</a:defRPr>
            </a:pPr>
            <a:r>
              <a:t>➔ State [011] - Night &amp; Active Traffic (Full Power): A vehicle triggers M=1. The sub-gate (L · M) becomes 1, propagating through the OR gate to drive B1 to 1. Simultaneously, M=1 breaks the 3-input AND condition, dropping B0 to 0. System outputs 10 (Full Power, 100% brightness).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</a:defRPr>
            </a:pPr>
            <a:r>
              <a:t>➔ Logisim Behavior: Instantly toggles between output pins B0 and B1, dynamically moving bright green logic high wires as motion inputs 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AF19"/>
                </a:solidFill>
                <a:latin typeface="Arial"/>
              </a:defRPr>
            </a:pPr>
            <a:r>
              <a:t>AUTOMATIC STREET LIGHT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Arial"/>
              </a:defRPr>
            </a:pPr>
            <a:r>
              <a:t>Logisim Simulation: Emergency Override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15A77"/>
                </a:solidFill>
              </a:defRPr>
            </a:pPr>
            <a:r>
              <a:t>Condition: Override Signal Active (E = 1)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</a:defRPr>
            </a:pPr>
            <a:r>
              <a:t>➔ Absolute Priority: When E=1 is injected, it bypasses light and motion sensor states entirely via the final output OR gate.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</a:defRPr>
            </a:pPr>
            <a:r>
              <a:t>➔ Output Combination: B1 is driven to 1 immediately through the direct connection from E. B0 is forced to 0 because E'=0 kills the 3-input AND gate condition.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</a:defRPr>
            </a:pPr>
            <a:r>
              <a:t>➔ System Output: B1B0 = 10 (Full 100% Brightness) across all binary variations of L and M (States 100, 101, 110, 111).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</a:defRPr>
            </a:pPr>
            <a:r>
              <a:t>➔ Use Cases: Vital for safety during hazardous heavy fog, unexpected solar eclipses, road maintenance work, or physical manual logic testing overrides.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Summary &amp; Energy Advantages</a:t>
            </a:r>
          </a:p>
          <a:p>
            <a:pPr>
              <a:spcBef>
                <a:spcPts val="1400"/>
              </a:spcBef>
              <a:defRPr sz="1600">
                <a:solidFill>
                  <a:srgbClr val="F4F5F7"/>
                </a:solidFill>
              </a:defRPr>
            </a:pPr>
            <a:r>
              <a:t>✔ Validated Design: A fully functional, real-time reactive street light model built strictly using primitive logic gates.</a:t>
            </a:r>
          </a:p>
          <a:p>
            <a:pPr>
              <a:spcBef>
                <a:spcPts val="1400"/>
              </a:spcBef>
              <a:defRPr sz="1600">
                <a:solidFill>
                  <a:srgbClr val="F4F5F7"/>
                </a:solidFill>
              </a:defRPr>
            </a:pPr>
            <a:r>
              <a:t>✔ Power Preservation: Slashing power draw by 70% during inactive night hours by utilizing the smart 01 (Dim) state.</a:t>
            </a:r>
          </a:p>
          <a:p>
            <a:pPr>
              <a:spcBef>
                <a:spcPts val="1400"/>
              </a:spcBef>
              <a:defRPr sz="1600">
                <a:solidFill>
                  <a:srgbClr val="F4F5F7"/>
                </a:solidFill>
              </a:defRPr>
            </a:pPr>
            <a:r>
              <a:t>✔ Purely Combinational: Instant structural response with zero clock cycles, zero software delay overhead, and zero volatile memory dependencies.</a:t>
            </a:r>
          </a:p>
          <a:p>
            <a:pPr>
              <a:spcBef>
                <a:spcPts val="1400"/>
              </a:spcBef>
              <a:defRPr sz="1600">
                <a:solidFill>
                  <a:srgbClr val="F4F5F7"/>
                </a:solidFill>
              </a:defRPr>
            </a:pPr>
            <a:r>
              <a:t>✔ Scalability: Ready for real-world hardware deployment using standard 74xx series discrete ICs (7404, 7408, 7432) or simple PLD architectures.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
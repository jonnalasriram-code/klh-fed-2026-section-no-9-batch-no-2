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9a75c19-e775-4a94-8534-850cb0fa600a.fntdata" /><ns0:Relationship Id="rIdFont18" Type="http://schemas.openxmlformats.org/officeDocument/2006/relationships/font" Target="fonts/df66e0ed-4ba8-4f6f-badf-fe614a104f93.fntdata" /><ns0:Relationship Id="rIdFont19" Type="http://schemas.openxmlformats.org/officeDocument/2006/relationships/font" Target="fonts/c7c8a088-aabf-4db3-af34-93fc6d2d329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30019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189732"/>
            <a:ext cx="266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18357"/>
            <a:ext cx="10101262" cy="2011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Design and Simulation of an Automatic Street Light 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086969"/>
            <a:ext cx="263782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Space Grotesk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487019"/>
            <a:ext cx="25122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Mokshit:</a:t>
            </a:r>
            <a:r>
              <a:rPr b="0" sz="1500" i="0" u="none">
                <a:solidFill>
                  <a:srgbClr val="F8FAFC"/>
                </a:solidFill>
                <a:latin typeface="Inter"/>
              </a:rPr>
              <a:t> 2620030124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29919"/>
            <a:ext cx="25122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Bhuvan:</a:t>
            </a:r>
            <a:r>
              <a:rPr b="0" sz="1500" i="0" u="none">
                <a:solidFill>
                  <a:srgbClr val="F8FAFC"/>
                </a:solidFill>
                <a:latin typeface="Inter"/>
              </a:rPr>
              <a:t> 2620030121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1375" y="4487019"/>
            <a:ext cx="246459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Pardhiv:</a:t>
            </a:r>
            <a:r>
              <a:rPr b="0" sz="1500" i="0" u="none">
                <a:solidFill>
                  <a:srgbClr val="F8FAFC"/>
                </a:solidFill>
                <a:latin typeface="Inter"/>
              </a:rPr>
              <a:t> 2620030132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375" y="4829919"/>
            <a:ext cx="246459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Sri Ram:</a:t>
            </a:r>
            <a:r>
              <a:rPr b="0" sz="1500" i="0" u="none">
                <a:solidFill>
                  <a:srgbClr val="F8FAFC"/>
                </a:solidFill>
                <a:latin typeface="Inter"/>
              </a:rPr>
              <a:t> 2620030135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9370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93690"/>
            <a:ext cx="35052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93690"/>
            <a:ext cx="35052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93702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093690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093690"/>
            <a:ext cx="3505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36602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436590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436590"/>
            <a:ext cx="2286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735484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Space Grotesk"/>
              </a:rPr>
              <a:t>CURRENT INFRASTRUCTURE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087909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Why Automate Street Lighting?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70002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Manual Inefficiency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7677"/>
            <a:ext cx="3619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Requires daily human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969990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Energy Wastage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417665"/>
            <a:ext cx="299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Lights remain active during daylight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969990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High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417665"/>
            <a:ext cx="299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Increased maintenance and labor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67275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05025"/>
            <a:ext cx="3048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133725"/>
            <a:ext cx="3048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162425"/>
            <a:ext cx="30480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313682"/>
            <a:ext cx="4560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66107"/>
            <a:ext cx="393049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Introduction &amp;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91867"/>
            <a:ext cx="37433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Replacing manual switches with autonomous digital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2076450"/>
            <a:ext cx="531316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2495550"/>
            <a:ext cx="5060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Design a self-regulating illumination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105150"/>
            <a:ext cx="523815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Resource Conservation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3524250"/>
            <a:ext cx="49887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Minimize municipal electricity consumption.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4133850"/>
            <a:ext cx="516314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4552950"/>
            <a:ext cx="4917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Implement foundational Boolean AND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79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479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3847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038475"/>
            <a:ext cx="342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35255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HARDWARE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0497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Input Parameter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7325" y="3043237"/>
            <a:ext cx="376297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Parameter 1: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571875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Sensor: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Light Dependent Resistor (LDR).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924300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Function: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Detects ambient daylight.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276725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Logic High (1):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Complete darkness.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4225" y="3043237"/>
            <a:ext cx="411301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Parameter 2: System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571875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Control: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Master Switch.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24300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Function: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Enables global automation.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276725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Logic High (1):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System activated.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2775"/>
            <a:ext cx="3121074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9824" y="3052762"/>
            <a:ext cx="3121074" cy="2200275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80524" y="3062287"/>
            <a:ext cx="3102024" cy="2181225"/>
          </a:xfrm>
          <a:prstGeom prst="roundRect">
            <a:avLst>
              <a:gd name="adj" fmla="val 524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474" y="4038600"/>
            <a:ext cx="2095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99" y="403860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187" y="3543300"/>
            <a:ext cx="28575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787" y="344328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8587" y="3443287"/>
            <a:ext cx="2857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81000" y="1604962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1957387"/>
            <a:ext cx="12954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Theory and Logic Circuit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483" y="4152900"/>
            <a:ext cx="327130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Input A (LDR)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371" y="4562475"/>
            <a:ext cx="31155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High logic during nightfall.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708" y="4052887"/>
            <a:ext cx="327130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Input B (Switch)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596" y="4462462"/>
            <a:ext cx="311553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High logic when system armed.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5882" y="4052887"/>
            <a:ext cx="327130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Space Grotesk"/>
              </a:rPr>
              <a:t>AND Logic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771" y="4462462"/>
            <a:ext cx="311553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Strict dual-condition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2200"/>
            <a:ext cx="6096000" cy="3733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686050"/>
            <a:ext cx="54483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62000"/>
            <a:ext cx="762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4425"/>
            <a:ext cx="8001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Circuit Design in Logisim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52600"/>
            <a:ext cx="762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Direct implementation using standard digital components.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4325" y="1600200"/>
            <a:ext cx="42576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Diagram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4325" y="2247900"/>
            <a:ext cx="4257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Space Grotesk"/>
              </a:rPr>
              <a:t>Top Input [x1]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4325" y="2571750"/>
            <a:ext cx="4257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LDR Sensor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4325" y="3076575"/>
            <a:ext cx="4257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Space Grotesk"/>
              </a:rPr>
              <a:t>Bottom Input [x1]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4325" y="3400425"/>
            <a:ext cx="4257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Master Switch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4325" y="3905250"/>
            <a:ext cx="4257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AND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325" y="4229100"/>
            <a:ext cx="4257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Multiplies Boolean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4325" y="4733925"/>
            <a:ext cx="4257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Output [x1]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4325" y="5057775"/>
            <a:ext cx="4257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Triggers street light relay.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2390775"/>
            <a:ext cx="9525000" cy="3752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33500" y="2390775"/>
          <a:ext cx="9515473" cy="3752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54523"/>
                <a:gridCol w="2854523"/>
                <a:gridCol w="1427261"/>
                <a:gridCol w="2379166"/>
              </a:tblGrid>
              <a:tr h="7505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Environment (LDR)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System (Switch)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Logic Result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Physical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0 (Daylight)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0 (Disabled)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Lights OFF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0 (Daylight)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(Armed)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Lights OFF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(Night)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0 (Disabled)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EF4444"/>
                          </a:solidFill>
                          <a:latin typeface="Inter"/>
                        </a:rPr>
                        <a:t>Maintenance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(Night)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(Armed)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 i="0" u="none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Lights 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81650" y="714375"/>
            <a:ext cx="1314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6262" y="1066800"/>
            <a:ext cx="448806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Simulation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0" y="1704975"/>
            <a:ext cx="7524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Comprehensive truth table verifying the required logic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3454449" cy="2724150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38450"/>
            <a:ext cx="3454449" cy="2724150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38450"/>
            <a:ext cx="3454449" cy="2724150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22897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22897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22897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333875"/>
            <a:ext cx="76200" cy="76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648200"/>
            <a:ext cx="76200" cy="76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374" y="4333875"/>
            <a:ext cx="76200" cy="76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374" y="4848225"/>
            <a:ext cx="76200" cy="76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624" y="4333875"/>
            <a:ext cx="76200" cy="76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624" y="4648200"/>
            <a:ext cx="76200" cy="76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1295400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1647825"/>
            <a:ext cx="12954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Practical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762375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Smart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9374" y="3762375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Highway Corridors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8624" y="3762375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Industrial Sectors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257675"/>
            <a:ext cx="3151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Automated municipal grids.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572000"/>
            <a:ext cx="2578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Substantial carbon footprint reduction.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9874" y="4257675"/>
            <a:ext cx="2578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Weather-adaptive tunnel lighting.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9874" y="4772025"/>
            <a:ext cx="2578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Enhanced driver safety at dusk.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9124" y="4257675"/>
            <a:ext cx="3151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Factory perimeter security.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9124" y="4572000"/>
            <a:ext cx="3151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Private campus automation.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7950"/>
            <a:ext cx="3454449" cy="3105150"/>
          </a:xfrm>
          <a:prstGeom prst="roundRect">
            <a:avLst>
              <a:gd name="adj" fmla="val 368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47950"/>
            <a:ext cx="3454449" cy="3105150"/>
          </a:xfrm>
          <a:prstGeom prst="roundRect">
            <a:avLst>
              <a:gd name="adj" fmla="val 368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47950"/>
            <a:ext cx="3454449" cy="3105150"/>
          </a:xfrm>
          <a:prstGeom prst="roundRect">
            <a:avLst>
              <a:gd name="adj" fmla="val 368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38475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3847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0384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08146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633912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374" y="442436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374" y="497681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4105275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624" y="4657725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1104900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Space Grotesk"/>
              </a:rPr>
              <a:t>SECTION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1457325"/>
            <a:ext cx="12954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Conclusion and 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571875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Project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9374" y="3571875"/>
            <a:ext cx="290708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Hardware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8624" y="3571875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Space Grotesk"/>
              </a:rPr>
              <a:t>Future Upgrades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4067175"/>
            <a:ext cx="25019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Successful AND logic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4619625"/>
            <a:ext cx="25019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Reliable automated switching.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6074" y="4410075"/>
            <a:ext cx="25019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Microcontroller integration (Arduino).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6074" y="4962525"/>
            <a:ext cx="25019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Dynamic LDR sensitivity tuning.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424" y="4067175"/>
            <a:ext cx="24638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Remote IoT status monitoring.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424" y="4619625"/>
            <a:ext cx="24638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Off-grid solar power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432435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20690" y="2476500"/>
            <a:ext cx="4950618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8031" y="3543300"/>
            <a:ext cx="5595937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Open for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